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87F2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786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E0A8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분석 리포트   ·   2026. 07.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6F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싸우고,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6F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싸우지 않는가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딥로스트(Deep Roast)  ·  용인 수지구청역 상권 경쟁 환경 분석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4041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A8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“깊게 볶고, 깊게 몰입한다.”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44988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5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네이버지도 · 다이닝코드 · 각 브랜드 공식 채널 (2026-07-10 실사)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355080" y="1207008"/>
            <a:ext cx="2240280" cy="2670048"/>
          </a:xfrm>
          <a:prstGeom prst="rect">
            <a:avLst/>
          </a:prstGeom>
          <a:solidFill>
            <a:srgbClr val="3A2A1E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207008"/>
            <a:ext cx="73152" cy="2670048"/>
          </a:xfrm>
          <a:prstGeom prst="rect">
            <a:avLst/>
          </a:prstGeom>
          <a:solidFill>
            <a:srgbClr val="C87F2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4447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조사한 카페 · 스터디카페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0" y="16276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18곳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583680" y="2139696"/>
            <a:ext cx="1874520" cy="9144"/>
          </a:xfrm>
          <a:prstGeom prst="rect">
            <a:avLst/>
          </a:prstGeom>
          <a:solidFill>
            <a:srgbClr val="44342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134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도보 5분, 우리와 같은 가격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0" y="24963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0A8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4,500원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6583680" y="3008376"/>
            <a:ext cx="1874520" cy="9144"/>
          </a:xfrm>
          <a:prstGeom prst="rect">
            <a:avLst/>
          </a:prstGeom>
          <a:solidFill>
            <a:srgbClr val="44342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1821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최다 리뷰 (스페이스어스)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3680" y="33649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3,908건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310896" cy="310896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개요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8046720" cy="658368"/>
          </a:xfrm>
          <a:prstGeom prst="rect">
            <a:avLst/>
          </a:prstGeom>
          <a:solidFill>
            <a:srgbClr val="EDE4D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15568"/>
            <a:ext cx="73152" cy="658368"/>
          </a:xfrm>
          <a:prstGeom prst="rect">
            <a:avLst/>
          </a:prstGeom>
          <a:solidFill>
            <a:srgbClr val="C87F2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115568"/>
            <a:ext cx="7607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수지구청역 = 베드타운 + 학원가.  </a:t>
            </a:r>
            <a:pPr indent="0" marL="0">
              <a:buNone/>
            </a:pPr>
            <a:r>
              <a:rPr lang="en-US" sz="1100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오피스 상권이 아니라 출근길 테이크아웃 경쟁이 없다. 대신 오래 머무는 로컬카페와 스터디카페가 이례적으로 강하다.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482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경쟁업체 선정 기준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551176"/>
            <a:ext cx="137160" cy="137160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4871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7157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수지구청역 도보 15분(1.2km) 이내. 차로 오는 원거리 카페는 제외했다.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227832"/>
            <a:ext cx="137160" cy="137160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1638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33924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· 베이커리카페 · 스터디카페를 모두 포함했다.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904488"/>
            <a:ext cx="137160" cy="137160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40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겹침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40690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단품 · 체류 좌석 · 디저트 중 2개 이상 겹치는 곳.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6052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아메리카노 가격 분포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0482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ICE 기준  ·  * 는 추정치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60520" y="24460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컴포즈커피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2487168"/>
            <a:ext cx="709448" cy="155448"/>
          </a:xfrm>
          <a:prstGeom prst="rect">
            <a:avLst/>
          </a:prstGeom>
          <a:solidFill>
            <a:srgbClr val="C9BCA9"/>
          </a:solidFill>
          <a:ln/>
        </p:spPr>
      </p:sp>
      <p:sp>
        <p:nvSpPr>
          <p:cNvPr id="22" name="Text 20"/>
          <p:cNvSpPr/>
          <p:nvPr/>
        </p:nvSpPr>
        <p:spPr>
          <a:xfrm>
            <a:off x="6259856" y="24460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1,800원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60520" y="2685593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빽다방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0" y="2726741"/>
            <a:ext cx="788276" cy="155448"/>
          </a:xfrm>
          <a:prstGeom prst="rect">
            <a:avLst/>
          </a:prstGeom>
          <a:solidFill>
            <a:srgbClr val="C9BCA9"/>
          </a:solidFill>
          <a:ln/>
        </p:spPr>
      </p:sp>
      <p:sp>
        <p:nvSpPr>
          <p:cNvPr id="25" name="Text 23"/>
          <p:cNvSpPr/>
          <p:nvPr/>
        </p:nvSpPr>
        <p:spPr>
          <a:xfrm>
            <a:off x="6338684" y="2685593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2,000원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60520" y="292516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0" y="2966314"/>
            <a:ext cx="788276" cy="155448"/>
          </a:xfrm>
          <a:prstGeom prst="rect">
            <a:avLst/>
          </a:prstGeom>
          <a:solidFill>
            <a:srgbClr val="C9BCA9"/>
          </a:solidFill>
          <a:ln/>
        </p:spPr>
      </p:sp>
      <p:sp>
        <p:nvSpPr>
          <p:cNvPr id="28" name="Text 26"/>
          <p:cNvSpPr/>
          <p:nvPr/>
        </p:nvSpPr>
        <p:spPr>
          <a:xfrm>
            <a:off x="6338684" y="292516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2,000원*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60520" y="316473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이디야커피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3205886"/>
            <a:ext cx="1261241" cy="155448"/>
          </a:xfrm>
          <a:prstGeom prst="rect">
            <a:avLst/>
          </a:prstGeom>
          <a:solidFill>
            <a:srgbClr val="9C7A62"/>
          </a:solidFill>
          <a:ln/>
        </p:spPr>
      </p:sp>
      <p:sp>
        <p:nvSpPr>
          <p:cNvPr id="31" name="Text 29"/>
          <p:cNvSpPr/>
          <p:nvPr/>
        </p:nvSpPr>
        <p:spPr>
          <a:xfrm>
            <a:off x="6811649" y="316473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3,200원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60520" y="3404311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투썸플레이스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0" y="3445459"/>
            <a:ext cx="1418897" cy="155448"/>
          </a:xfrm>
          <a:prstGeom prst="rect">
            <a:avLst/>
          </a:prstGeom>
          <a:solidFill>
            <a:srgbClr val="9C7A62"/>
          </a:solidFill>
          <a:ln/>
        </p:spPr>
      </p:sp>
      <p:sp>
        <p:nvSpPr>
          <p:cNvPr id="34" name="Text 32"/>
          <p:cNvSpPr/>
          <p:nvPr/>
        </p:nvSpPr>
        <p:spPr>
          <a:xfrm>
            <a:off x="6969305" y="3404311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3,600원*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60520" y="364388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7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딥로스트 (우리)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0" y="3685032"/>
            <a:ext cx="1773621" cy="155448"/>
          </a:xfrm>
          <a:prstGeom prst="rect">
            <a:avLst/>
          </a:prstGeom>
          <a:solidFill>
            <a:srgbClr val="C87F2E"/>
          </a:solidFill>
          <a:ln/>
        </p:spPr>
      </p:sp>
      <p:sp>
        <p:nvSpPr>
          <p:cNvPr id="37" name="Text 35"/>
          <p:cNvSpPr/>
          <p:nvPr/>
        </p:nvSpPr>
        <p:spPr>
          <a:xfrm>
            <a:off x="7324029" y="36438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7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4,500원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60520" y="3883457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프라이머리커피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0" y="3924605"/>
            <a:ext cx="1773621" cy="155448"/>
          </a:xfrm>
          <a:prstGeom prst="rect">
            <a:avLst/>
          </a:prstGeom>
          <a:solidFill>
            <a:srgbClr val="A8402F"/>
          </a:solidFill>
          <a:ln/>
        </p:spPr>
      </p:sp>
      <p:sp>
        <p:nvSpPr>
          <p:cNvPr id="40" name="Text 38"/>
          <p:cNvSpPr/>
          <p:nvPr/>
        </p:nvSpPr>
        <p:spPr>
          <a:xfrm>
            <a:off x="7324029" y="3883457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4,500원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60520" y="412303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스타벅스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0" y="4164178"/>
            <a:ext cx="1852448" cy="155448"/>
          </a:xfrm>
          <a:prstGeom prst="rect">
            <a:avLst/>
          </a:prstGeom>
          <a:solidFill>
            <a:srgbClr val="6B4430"/>
          </a:solidFill>
          <a:ln/>
        </p:spPr>
      </p:sp>
      <p:sp>
        <p:nvSpPr>
          <p:cNvPr id="43" name="Text 41"/>
          <p:cNvSpPr/>
          <p:nvPr/>
        </p:nvSpPr>
        <p:spPr>
          <a:xfrm>
            <a:off x="7402856" y="412303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4,700원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160520" y="436260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아르빈스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0" y="4403750"/>
            <a:ext cx="2286000" cy="155448"/>
          </a:xfrm>
          <a:prstGeom prst="rect">
            <a:avLst/>
          </a:prstGeom>
          <a:solidFill>
            <a:srgbClr val="6B4430"/>
          </a:solidFill>
          <a:ln/>
        </p:spPr>
      </p:sp>
      <p:sp>
        <p:nvSpPr>
          <p:cNvPr id="46" name="Text 44"/>
          <p:cNvSpPr/>
          <p:nvPr/>
        </p:nvSpPr>
        <p:spPr>
          <a:xfrm>
            <a:off x="7836408" y="436260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5,800원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310896" cy="310896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비교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78992"/>
          <a:ext cx="80467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1371600"/>
                <a:gridCol w="1097280"/>
                <a:gridCol w="1600200"/>
                <a:gridCol w="160020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6F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6F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아메리카노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6F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시그니처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6F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 리뷰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6F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6F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1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7F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딥로스트 (우리)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4,500원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 + 구움과자 세트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신생 · 축적 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지정석 멤버십 · 구움과자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20시 마감 · 이면도로 노출 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C6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8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프라이머리커피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4,500원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샤워도우 파니니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콘센트 완비 · 21:50 마감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좌석 선착순 · 구움과자 없음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CD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아르빈스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5,800원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케이크 · 에스프레소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3층 · 무료주차 · 노키즈존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도보 13분 · 상권 최고가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스페이스어스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불가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프레지에 · 크로플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3,908건 (최다)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압도적 인지도 · 루프탑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데이트 · 모임형, 작업 부적합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브런치빈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불가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브런치 · 파스타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2,645건 · 4.83점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 평점 · 가족 모임 강세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브런치 식당 · 카공 아님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스타벅스 (2개점)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4,700원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프라푸치노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6,136 / 1,723건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브랜드력 · 상권 최대 리뷰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좌석 경쟁 · 몰입엔 시끄러움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 · 컴포즈 · 빽다방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1,800~2,000원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프라페 · 스무디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초저가 · 역 초근접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테이크아웃형, 체류 목적 아님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스터디카페 4곳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 없음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24시간 · 자유석 3,000원대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3B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 품질로 대체 불가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439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 팔로워 수는 로그인 없이 전수 확인 불가 → 네이버 플레이스 리뷰 수로 인지도 지표를 대체했다.  '확인 불가' = 조사했으나 찾지 못한 값 (추정하지 않음).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310896" cy="310896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차별화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8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조각이 흩어져 있다. 한 곳에 모은 곳은 딥로스트뿐이다.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79208" y="1517904"/>
            <a:ext cx="1216152" cy="2331720"/>
          </a:xfrm>
          <a:prstGeom prst="rect">
            <a:avLst/>
          </a:prstGeom>
          <a:solidFill>
            <a:srgbClr val="3A2A1E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57276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프라이머리커피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30752" y="157276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스페이스어스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46904" y="157276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스터디카페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63056" y="157276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9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포지티브쿠키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79208" y="157276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A8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딥로스트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8046720" cy="9144"/>
          </a:xfrm>
          <a:prstGeom prst="rect">
            <a:avLst/>
          </a:prstGeom>
          <a:solidFill>
            <a:srgbClr val="4434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116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스페셜티 커피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22092" y="2139696"/>
            <a:ext cx="201168" cy="201168"/>
          </a:xfrm>
          <a:prstGeom prst="ellipse">
            <a:avLst/>
          </a:prstGeom>
          <a:solidFill>
            <a:srgbClr val="B0917A"/>
          </a:solidFill>
          <a:ln/>
        </p:spPr>
      </p:sp>
      <p:sp>
        <p:nvSpPr>
          <p:cNvPr id="15" name="Shape 13"/>
          <p:cNvSpPr/>
          <p:nvPr/>
        </p:nvSpPr>
        <p:spPr>
          <a:xfrm>
            <a:off x="4238244" y="2139696"/>
            <a:ext cx="201168" cy="201168"/>
          </a:xfrm>
          <a:prstGeom prst="ellipse">
            <a:avLst/>
          </a:prstGeom>
          <a:solidFill>
            <a:srgbClr val="B0917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54396" y="2139696"/>
            <a:ext cx="201168" cy="201168"/>
          </a:xfrm>
          <a:prstGeom prst="ellipse">
            <a:avLst/>
          </a:prstGeom>
          <a:solidFill>
            <a:srgbClr val="241811"/>
          </a:solidFill>
          <a:ln w="15875">
            <a:solidFill>
              <a:srgbClr val="7A6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0548" y="2139696"/>
            <a:ext cx="201168" cy="201168"/>
          </a:xfrm>
          <a:prstGeom prst="ellipse">
            <a:avLst/>
          </a:prstGeom>
          <a:solidFill>
            <a:srgbClr val="241811"/>
          </a:solidFill>
          <a:ln w="15875">
            <a:solidFill>
              <a:srgbClr val="7A6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86700" y="2139696"/>
            <a:ext cx="201168" cy="201168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468880"/>
            <a:ext cx="8046720" cy="9144"/>
          </a:xfrm>
          <a:prstGeom prst="rect">
            <a:avLst/>
          </a:prstGeom>
          <a:solidFill>
            <a:srgbClr val="44342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68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 보장 (멤버십)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22092" y="2596896"/>
            <a:ext cx="201168" cy="201168"/>
          </a:xfrm>
          <a:prstGeom prst="ellipse">
            <a:avLst/>
          </a:prstGeom>
          <a:solidFill>
            <a:srgbClr val="241811"/>
          </a:solidFill>
          <a:ln w="15875">
            <a:solidFill>
              <a:srgbClr val="7A6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8244" y="2596896"/>
            <a:ext cx="201168" cy="201168"/>
          </a:xfrm>
          <a:prstGeom prst="ellipse">
            <a:avLst/>
          </a:prstGeom>
          <a:solidFill>
            <a:srgbClr val="241811"/>
          </a:solidFill>
          <a:ln w="15875">
            <a:solidFill>
              <a:srgbClr val="7A65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54396" y="2596896"/>
            <a:ext cx="201168" cy="201168"/>
          </a:xfrm>
          <a:prstGeom prst="ellipse">
            <a:avLst/>
          </a:prstGeom>
          <a:solidFill>
            <a:srgbClr val="B091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0548" y="2596896"/>
            <a:ext cx="201168" cy="201168"/>
          </a:xfrm>
          <a:prstGeom prst="ellipse">
            <a:avLst/>
          </a:prstGeom>
          <a:solidFill>
            <a:srgbClr val="241811"/>
          </a:solidFill>
          <a:ln w="15875">
            <a:solidFill>
              <a:srgbClr val="7A6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6700" y="2596896"/>
            <a:ext cx="201168" cy="201168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2926080"/>
            <a:ext cx="8046720" cy="9144"/>
          </a:xfrm>
          <a:prstGeom prst="rect">
            <a:avLst/>
          </a:prstGeom>
          <a:solidFill>
            <a:srgbClr val="44342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구움과자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22092" y="3054096"/>
            <a:ext cx="201168" cy="201168"/>
          </a:xfrm>
          <a:prstGeom prst="ellipse">
            <a:avLst/>
          </a:prstGeom>
          <a:solidFill>
            <a:srgbClr val="241811"/>
          </a:solidFill>
          <a:ln w="15875">
            <a:solidFill>
              <a:srgbClr val="7A65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38244" y="3054096"/>
            <a:ext cx="201168" cy="201168"/>
          </a:xfrm>
          <a:prstGeom prst="ellipse">
            <a:avLst/>
          </a:prstGeom>
          <a:solidFill>
            <a:srgbClr val="241811"/>
          </a:solidFill>
          <a:ln w="15875">
            <a:solidFill>
              <a:srgbClr val="7A6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54396" y="3054096"/>
            <a:ext cx="201168" cy="201168"/>
          </a:xfrm>
          <a:prstGeom prst="ellipse">
            <a:avLst/>
          </a:prstGeom>
          <a:solidFill>
            <a:srgbClr val="241811"/>
          </a:solidFill>
          <a:ln w="15875">
            <a:solidFill>
              <a:srgbClr val="7A65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0548" y="3054096"/>
            <a:ext cx="201168" cy="201168"/>
          </a:xfrm>
          <a:prstGeom prst="ellipse">
            <a:avLst/>
          </a:prstGeom>
          <a:solidFill>
            <a:srgbClr val="B0917A"/>
          </a:solidFill>
          <a:ln/>
        </p:spPr>
      </p:sp>
      <p:sp>
        <p:nvSpPr>
          <p:cNvPr id="32" name="Shape 30"/>
          <p:cNvSpPr/>
          <p:nvPr/>
        </p:nvSpPr>
        <p:spPr>
          <a:xfrm>
            <a:off x="7886700" y="3054096"/>
            <a:ext cx="201168" cy="201168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3383280"/>
            <a:ext cx="8046720" cy="9144"/>
          </a:xfrm>
          <a:prstGeom prst="rect">
            <a:avLst/>
          </a:prstGeom>
          <a:solidFill>
            <a:srgbClr val="44342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머무는 공간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22092" y="3511296"/>
            <a:ext cx="201168" cy="201168"/>
          </a:xfrm>
          <a:prstGeom prst="ellipse">
            <a:avLst/>
          </a:prstGeom>
          <a:solidFill>
            <a:srgbClr val="B0917A"/>
          </a:solidFill>
          <a:ln/>
        </p:spPr>
      </p:sp>
      <p:sp>
        <p:nvSpPr>
          <p:cNvPr id="36" name="Shape 34"/>
          <p:cNvSpPr/>
          <p:nvPr/>
        </p:nvSpPr>
        <p:spPr>
          <a:xfrm>
            <a:off x="4238244" y="3511296"/>
            <a:ext cx="201168" cy="201168"/>
          </a:xfrm>
          <a:prstGeom prst="ellipse">
            <a:avLst/>
          </a:prstGeom>
          <a:solidFill>
            <a:srgbClr val="B0917A"/>
          </a:solidFill>
          <a:ln/>
        </p:spPr>
      </p:sp>
      <p:sp>
        <p:nvSpPr>
          <p:cNvPr id="37" name="Shape 35"/>
          <p:cNvSpPr/>
          <p:nvPr/>
        </p:nvSpPr>
        <p:spPr>
          <a:xfrm>
            <a:off x="5454396" y="3511296"/>
            <a:ext cx="201168" cy="201168"/>
          </a:xfrm>
          <a:prstGeom prst="ellipse">
            <a:avLst/>
          </a:prstGeom>
          <a:solidFill>
            <a:srgbClr val="B0917A"/>
          </a:solidFill>
          <a:ln/>
        </p:spPr>
      </p:sp>
      <p:sp>
        <p:nvSpPr>
          <p:cNvPr id="38" name="Shape 36"/>
          <p:cNvSpPr/>
          <p:nvPr/>
        </p:nvSpPr>
        <p:spPr>
          <a:xfrm>
            <a:off x="6670548" y="3511296"/>
            <a:ext cx="201168" cy="201168"/>
          </a:xfrm>
          <a:prstGeom prst="ellipse">
            <a:avLst/>
          </a:prstGeom>
          <a:solidFill>
            <a:srgbClr val="241811"/>
          </a:solidFill>
          <a:ln w="15875">
            <a:solidFill>
              <a:srgbClr val="7A65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86700" y="3511296"/>
            <a:ext cx="201168" cy="201168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3840480"/>
            <a:ext cx="8046720" cy="9144"/>
          </a:xfrm>
          <a:prstGeom prst="rect">
            <a:avLst/>
          </a:prstGeom>
          <a:solidFill>
            <a:srgbClr val="44342A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133088"/>
            <a:ext cx="8046720" cy="530352"/>
          </a:xfrm>
          <a:prstGeom prst="rect">
            <a:avLst/>
          </a:prstGeom>
          <a:solidFill>
            <a:srgbClr val="3A2A1E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4133088"/>
            <a:ext cx="73152" cy="530352"/>
          </a:xfrm>
          <a:prstGeom prst="rect">
            <a:avLst/>
          </a:prstGeom>
          <a:solidFill>
            <a:srgbClr val="C87F2E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4133088"/>
            <a:ext cx="7607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E0A8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운이 아니라 구조다. 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6C8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프랜차이즈는 본사 매뉴얼상 지정석을 만들 권한이 없고, 대형 로컬카페는 회전율이 강점이라 멤버십이 손해이며, 스터디카페는 무인 원가구조상 진짜 커피가 불가능하다.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310896" cy="310896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365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액션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0" y="4023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 ·  기간  ·  측정지표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097280"/>
            <a:ext cx="64008" cy="530352"/>
          </a:xfrm>
          <a:prstGeom prst="rect">
            <a:avLst/>
          </a:prstGeom>
          <a:solidFill>
            <a:srgbClr val="C87F2E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234440"/>
            <a:ext cx="256032" cy="256032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11521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플레이스 리뷰 축적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371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리뷰량이 검색 노출을 좌우 — 이면도로 약점이 두 배가 된다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0" y="1243584"/>
            <a:ext cx="841248" cy="237744"/>
          </a:xfrm>
          <a:prstGeom prst="rect">
            <a:avLst/>
          </a:prstGeom>
          <a:solidFill>
            <a:srgbClr val="EDE4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24358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92240" y="124358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 </a:t>
            </a:r>
            <a:pPr indent="0" marL="0">
              <a:buNone/>
            </a:pPr>
            <a:r>
              <a:rPr lang="en-US" sz="850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리뷰 증가 수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1709928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1709928"/>
            <a:ext cx="64008" cy="530352"/>
          </a:xfrm>
          <a:prstGeom prst="rect">
            <a:avLst/>
          </a:prstGeom>
          <a:solidFill>
            <a:srgbClr val="C87F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47088"/>
            <a:ext cx="256032" cy="256032"/>
          </a:xfrm>
          <a:prstGeom prst="ellipse">
            <a:avLst/>
          </a:prstGeom>
          <a:solidFill>
            <a:srgbClr val="C87F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847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17647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프라이머리커피 대비 차별화 메시지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1984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“지정석 보장 · 구움과자”를 소개 문구 전면에 배치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1856232"/>
            <a:ext cx="841248" cy="237744"/>
          </a:xfrm>
          <a:prstGeom prst="rect">
            <a:avLst/>
          </a:prstGeom>
          <a:solidFill>
            <a:srgbClr val="EDE4D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185623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18562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 </a:t>
            </a:r>
            <a:pPr indent="0" marL="0">
              <a:buNone/>
            </a:pPr>
            <a:r>
              <a:rPr lang="en-US" sz="850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문의 전환율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2322576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2322576"/>
            <a:ext cx="64008" cy="530352"/>
          </a:xfrm>
          <a:prstGeom prst="rect">
            <a:avLst/>
          </a:prstGeom>
          <a:solidFill>
            <a:srgbClr val="6B4430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2459736"/>
            <a:ext cx="256032" cy="256032"/>
          </a:xfrm>
          <a:prstGeom prst="ellipse">
            <a:avLst/>
          </a:prstGeom>
          <a:solidFill>
            <a:srgbClr val="6B443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" y="2377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 마감 연장 시범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" y="25968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· 금만 21시까지 — 재택러의 저녁 작업 수요 검증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2468880"/>
            <a:ext cx="841248" cy="237744"/>
          </a:xfrm>
          <a:prstGeom prst="rect">
            <a:avLst/>
          </a:prstGeom>
          <a:solidFill>
            <a:srgbClr val="EDE4D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246888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1~2개월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92240" y="24688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 </a:t>
            </a:r>
            <a:pPr indent="0" marL="0">
              <a:buNone/>
            </a:pPr>
            <a:r>
              <a:rPr lang="en-US" sz="850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연장 매출 vs 인건비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8640" y="2935224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2935224"/>
            <a:ext cx="64008" cy="530352"/>
          </a:xfrm>
          <a:prstGeom prst="rect">
            <a:avLst/>
          </a:prstGeom>
          <a:solidFill>
            <a:srgbClr val="6B4430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3072384"/>
            <a:ext cx="256032" cy="256032"/>
          </a:xfrm>
          <a:prstGeom prst="ellipse">
            <a:avLst/>
          </a:prstGeom>
          <a:solidFill>
            <a:srgbClr val="6B443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15568" y="29900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→ 평일 멤버십 전환 퍼널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5568" y="32095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방문 영수증 지참 시 평일 멤버십 첫 달 할인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0" y="3081528"/>
            <a:ext cx="841248" cy="237744"/>
          </a:xfrm>
          <a:prstGeom prst="rect">
            <a:avLst/>
          </a:prstGeom>
          <a:solidFill>
            <a:srgbClr val="EDE4D6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0" y="308152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92240" y="30815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 </a:t>
            </a:r>
            <a:pPr indent="0" marL="0">
              <a:buNone/>
            </a:pPr>
            <a:r>
              <a:rPr lang="en-US" sz="850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방문 → 멤버십 전환율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" y="3547872"/>
            <a:ext cx="80467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3547872"/>
            <a:ext cx="64008" cy="530352"/>
          </a:xfrm>
          <a:prstGeom prst="rect">
            <a:avLst/>
          </a:prstGeom>
          <a:solidFill>
            <a:srgbClr val="6B4430"/>
          </a:solidFill>
          <a:ln/>
        </p:spPr>
      </p:sp>
      <p:sp>
        <p:nvSpPr>
          <p:cNvPr id="44" name="Shape 42"/>
          <p:cNvSpPr/>
          <p:nvPr/>
        </p:nvSpPr>
        <p:spPr>
          <a:xfrm>
            <a:off x="731520" y="3685032"/>
            <a:ext cx="256032" cy="256032"/>
          </a:xfrm>
          <a:prstGeom prst="ellipse">
            <a:avLst/>
          </a:prstGeom>
          <a:solidFill>
            <a:srgbClr val="6B4430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15568" y="36027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구움과자 단품 포장 판매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15568" y="3822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포지티브쿠키가 이미 검증한 포장 수요 (소량 시범부터)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0" y="3694176"/>
            <a:ext cx="841248" cy="237744"/>
          </a:xfrm>
          <a:prstGeom prst="rect">
            <a:avLst/>
          </a:prstGeom>
          <a:solidFill>
            <a:srgbClr val="EDE4D6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0" y="369417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92240" y="36941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8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 </a:t>
            </a:r>
            <a:pPr indent="0" marL="0">
              <a:buNone/>
            </a:pPr>
            <a:r>
              <a:rPr lang="en-US" sz="850" dirty="0">
                <a:solidFill>
                  <a:srgbClr val="5A4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 단품 매출 비중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8640" y="4261104"/>
            <a:ext cx="8046720" cy="457200"/>
          </a:xfrm>
          <a:prstGeom prst="rect">
            <a:avLst/>
          </a:prstGeom>
          <a:solidFill>
            <a:srgbClr val="241811"/>
          </a:solidFill>
          <a:ln/>
        </p:spPr>
      </p:sp>
      <p:sp>
        <p:nvSpPr>
          <p:cNvPr id="52" name="Text 50"/>
          <p:cNvSpPr/>
          <p:nvPr/>
        </p:nvSpPr>
        <p:spPr>
          <a:xfrm>
            <a:off x="804672" y="42611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A8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사장님 결정 필요   </a:t>
            </a:r>
            <a:pPr indent="0" marL="0">
              <a:buNone/>
            </a:pPr>
            <a:r>
              <a:rPr lang="en-US" sz="900" dirty="0">
                <a:solidFill>
                  <a:srgbClr val="D6C8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저녁 연장 손익 계산용 시급   ② 가격 포지션 : 4,500원 유지 vs 인상   ③ 주말은 이길 수 없는 싸움인가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딥로스트 경쟁사 분석</dc:title>
  <dc:subject>PptxGenJS Presentation</dc:subject>
  <dc:creator>Deep Roast</dc:creator>
  <cp:lastModifiedBy>Deep Roast</cp:lastModifiedBy>
  <cp:revision>1</cp:revision>
  <dcterms:created xsi:type="dcterms:W3CDTF">2026-07-10T05:37:57Z</dcterms:created>
  <dcterms:modified xsi:type="dcterms:W3CDTF">2026-07-10T05:37:57Z</dcterms:modified>
</cp:coreProperties>
</file>